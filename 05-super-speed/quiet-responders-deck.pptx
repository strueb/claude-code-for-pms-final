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iagram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F3864"/>
          </a:solidFill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762000" y="2159000"/>
            <a:ext cx="10668000" cy="1397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wrap="square" lIns="137160" tIns="91440" rIns="137160" bIns="91440" anchor="b"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4000" b="1" dirty="0">
                <a:solidFill>
                  <a:srgbClr val="FFFFFF"/>
                </a:solidFill>
                <a:latin typeface="Arial"/>
                <a:cs typeface="Arial"/>
              </a:rPr>
              <a:t>Bringing quiet responders back</a:t>
            </a:r>
          </a:p>
        </p:txBody>
      </p:sp>
      <p:sp>
        <p:nvSpPr>
          <p:cNvPr id="4" name="Shape 4"/>
          <p:cNvSpPr/>
          <p:nvPr/>
        </p:nvSpPr>
        <p:spPr>
          <a:xfrm>
            <a:off x="762000" y="3619500"/>
            <a:ext cx="10668000" cy="1016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2200" dirty="0">
                <a:solidFill>
                  <a:srgbClr val="E5E7EB"/>
                </a:solidFill>
                <a:latin typeface="Arial"/>
                <a:cs typeface="Arial"/>
              </a:rPr>
              <a:t>What we would build instead of changing a number</a:t>
            </a:r>
          </a:p>
        </p:txBody>
      </p:sp>
      <p:sp>
        <p:nvSpPr>
          <p:cNvPr id="5" name="Shape 5"/>
          <p:cNvSpPr/>
          <p:nvPr/>
        </p:nvSpPr>
        <p:spPr>
          <a:xfrm>
            <a:off x="762000" y="5588000"/>
            <a:ext cx="10668000" cy="635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1200" dirty="0">
                <a:solidFill>
                  <a:srgbClr val="CBD5E1"/>
                </a:solidFill>
                <a:latin typeface="Arial"/>
                <a:cs typeface="Arial"/>
              </a:rPr>
              <a:t>Rook Dispatch  |  Draft for Helen Achebe  |  not yet checked with Wen Li or Marcus Oyelaran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304800"/>
            <a:ext cx="11176000" cy="7112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1F3864"/>
                </a:solidFill>
                <a:latin typeface="Arial"/>
                <a:cs typeface="Arial"/>
              </a:rPr>
              <a:t>Once someone goes quiet, nothing brings them back</a:t>
            </a:r>
          </a:p>
        </p:txBody>
      </p:sp>
      <p:sp>
        <p:nvSpPr>
          <p:cNvPr id="3" name="Shape 3"/>
          <p:cNvSpPr/>
          <p:nvPr/>
        </p:nvSpPr>
        <p:spPr>
          <a:xfrm>
            <a:off x="508000" y="1270000"/>
            <a:ext cx="5461000" cy="4826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1F3864"/>
                </a:solidFill>
                <a:latin typeface="Arial"/>
                <a:cs typeface="Arial"/>
              </a:rPr>
              <a:t>The loop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/>
                <a:cs typeface="Arial"/>
              </a:rPr>
              <a:t>A responder who misses or turns down pings drops down the list.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/>
                <a:cs typeface="Arial"/>
              </a:rPr>
              <a:t>A lower place means fewer pings.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/>
                <a:cs typeface="Arial"/>
              </a:rPr>
              <a:t>A responder who is not pinged cannot take one to climb back.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500" b="1" dirty="0">
                <a:solidFill>
                  <a:srgbClr val="1F2937"/>
                </a:solidFill>
                <a:latin typeface="Arial"/>
                <a:cs typeface="Arial"/>
              </a:rPr>
              <a:t>Today only being asked brings someone back. Being quiet stops them being asked.</a:t>
            </a:r>
          </a:p>
        </p:txBody>
      </p:sp>
      <p:sp>
        <p:nvSpPr>
          <p:cNvPr id="4" name="Shape 4"/>
          <p:cNvSpPr/>
          <p:nvPr/>
        </p:nvSpPr>
        <p:spPr>
          <a:xfrm>
            <a:off x="6223000" y="1270000"/>
            <a:ext cx="5461000" cy="4826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1F3864"/>
                </a:solidFill>
                <a:latin typeface="Arial"/>
                <a:cs typeface="Arial"/>
              </a:rPr>
              <a:t>What the data shows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/>
                <a:cs typeface="Arial"/>
              </a:rPr>
              <a:t>Four responders fell from about 49 pings a week combined to 3 by 31 Aug.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/>
                <a:cs typeface="Arial"/>
              </a:rPr>
              <a:t>None has taken a ping since 19 Aug. Misses began the week of 12 Aug.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500" dirty="0">
                <a:solidFill>
                  <a:srgbClr val="1F2937"/>
                </a:solidFill>
                <a:latin typeface="Arial"/>
                <a:cs typeface="Arial"/>
              </a:rPr>
              <a:t>The other 12 absorbed the load and recovered to about 73% acceptance.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300" dirty="0">
                <a:solidFill>
                  <a:srgbClr val="595959"/>
                </a:solidFill>
                <a:latin typeface="Arial"/>
                <a:cs typeface="Arial"/>
              </a:rPr>
              <a:t>Inferred, not confirmed: a miss costs -0.12, an accept +0.08, no decay. Wen Li can settle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304800"/>
            <a:ext cx="11176000" cy="7112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1F3864"/>
                </a:solidFill>
                <a:latin typeface="Arial"/>
                <a:cs typeface="Arial"/>
              </a:rPr>
              <a:t>Who it is for and what changes for them</a:t>
            </a:r>
          </a:p>
        </p:txBody>
      </p:sp>
      <p:sp>
        <p:nvSpPr>
          <p:cNvPr id="3" name="Shape 3"/>
          <p:cNvSpPr/>
          <p:nvPr/>
        </p:nvSpPr>
        <p:spPr>
          <a:xfrm>
            <a:off x="508000" y="1270000"/>
            <a:ext cx="3556000" cy="0"/>
          </a:xfrm>
          <a:prstGeom prst="roundRect">
            <a:avLst>
              <a:gd name="adj" fmla="val 6000"/>
            </a:avLst>
          </a:prstGeom>
          <a:solidFill>
            <a:srgbClr val="F3E8FF"/>
          </a:solidFill>
          <a:ln w="19050">
            <a:solidFill>
              <a:srgbClr val="7C3AED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1F3864"/>
                </a:solidFill>
                <a:latin typeface="Arial"/>
                <a:cs typeface="Arial"/>
              </a:rPr>
              <a:t>The handler of a quiet responder</a:t>
            </a:r>
          </a:p>
          <a:p>
            <a:pPr>
              <a:spcBef>
                <a:spcPts val="600"/>
              </a:spcBef>
              <a:buNone/>
            </a:pP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Like Kip. Sees nothing coming and can only file a ticket. About 30 tickets say the phone never goes off.</a:t>
            </a:r>
          </a:p>
          <a:p>
            <a:pPr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7C3AED"/>
                </a:solidFill>
                <a:latin typeface="Arial"/>
                <a:cs typeface="Arial"/>
              </a:rPr>
              <a:t>Now: the console says "Quiet for N days" and offers one tap, "Confirm availability and phone". No ticket.</a:t>
            </a:r>
          </a:p>
        </p:txBody>
      </p:sp>
      <p:sp>
        <p:nvSpPr>
          <p:cNvPr id="4" name="Shape 4"/>
          <p:cNvSpPr/>
          <p:nvPr/>
        </p:nvSpPr>
        <p:spPr>
          <a:xfrm>
            <a:off x="4318000" y="1270000"/>
            <a:ext cx="3556000" cy="0"/>
          </a:xfrm>
          <a:prstGeom prst="roundRect">
            <a:avLst>
              <a:gd name="adj" fmla="val 6000"/>
            </a:avLst>
          </a:prstGeom>
          <a:solidFill>
            <a:srgbClr val="F3E8FF"/>
          </a:solidFill>
          <a:ln w="19050">
            <a:solidFill>
              <a:srgbClr val="7C3AED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1F3864"/>
                </a:solidFill>
                <a:latin typeface="Arial"/>
                <a:cs typeface="Arial"/>
              </a:rPr>
              <a:t>The responder who went quiet</a:t>
            </a:r>
          </a:p>
          <a:p>
            <a:pPr>
              <a:spcBef>
                <a:spcPts val="600"/>
              </a:spcBef>
              <a:buNone/>
            </a:pP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Available and willing, but nobody asks them.</a:t>
            </a:r>
          </a:p>
          <a:p>
            <a:pPr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7C3AED"/>
                </a:solidFill>
                <a:latin typeface="Arial"/>
                <a:cs typeface="Arial"/>
              </a:rPr>
              <a:t>Now: old declines and misses count for less as they age, and a quiet responder is offered the next suitable callout. One taken ping puts them back in normal order.</a:t>
            </a:r>
          </a:p>
        </p:txBody>
      </p:sp>
      <p:sp>
        <p:nvSpPr>
          <p:cNvPr id="5" name="Shape 5"/>
          <p:cNvSpPr/>
          <p:nvPr/>
        </p:nvSpPr>
        <p:spPr>
          <a:xfrm>
            <a:off x="8128000" y="1270000"/>
            <a:ext cx="3556000" cy="0"/>
          </a:xfrm>
          <a:prstGeom prst="roundRect">
            <a:avLst>
              <a:gd name="adj" fmla="val 6000"/>
            </a:avLst>
          </a:prstGeom>
          <a:solidFill>
            <a:srgbClr val="F3E8FF"/>
          </a:solidFill>
          <a:ln w="19050">
            <a:solidFill>
              <a:srgbClr val="7C3AED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1F3864"/>
                </a:solidFill>
                <a:latin typeface="Arial"/>
                <a:cs typeface="Arial"/>
              </a:rPr>
              <a:t>Any responder: retry on a missed ping</a:t>
            </a:r>
          </a:p>
          <a:p>
            <a:pPr>
              <a:spcBef>
                <a:spcPts val="600"/>
              </a:spcBef>
              <a:buNone/>
            </a:pP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A missed alert costs score straight away.</a:t>
            </a:r>
          </a:p>
          <a:p>
            <a:pPr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7C3AED"/>
                </a:solidFill>
                <a:latin typeface="Arial"/>
                <a:cs typeface="Arial"/>
              </a:rPr>
              <a:t>Now: one retry to the same responder inside the same 90s wait. Answer the retry and it counts as taken. Only a ping still unanswered after the retry is a miss.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304800"/>
            <a:ext cx="11176000" cy="7112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1F3864"/>
                </a:solidFill>
                <a:latin typeface="Arial"/>
                <a:cs typeface="Arial"/>
              </a:rPr>
              <a:t>New: retry when a ping is missed</a:t>
            </a:r>
          </a:p>
        </p:txBody>
      </p:sp>
      <p:sp>
        <p:nvSpPr>
          <p:cNvPr id="3" name="Shape 3"/>
          <p:cNvSpPr/>
          <p:nvPr/>
        </p:nvSpPr>
        <p:spPr>
          <a:xfrm>
            <a:off x="508000" y="1270000"/>
            <a:ext cx="5461000" cy="4953000"/>
          </a:xfrm>
          <a:prstGeom prst="roundRect">
            <a:avLst>
              <a:gd name="adj" fmla="val 6000"/>
            </a:avLst>
          </a:prstGeom>
          <a:solidFill>
            <a:srgbClr val="F3E8FF"/>
          </a:solidFill>
          <a:ln w="19050">
            <a:solidFill>
              <a:srgbClr val="7C3AED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1F3864"/>
                </a:solidFill>
                <a:latin typeface="Arial"/>
                <a:cs typeface="Arial"/>
              </a:rPr>
              <a:t>How the retry works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Arial"/>
                <a:cs typeface="Arial"/>
              </a:rPr>
              <a:t>1.</a:t>
            </a: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 The ping goes to the top responder with a 90 second wait.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Arial"/>
                <a:cs typeface="Arial"/>
              </a:rPr>
              <a:t>2.</a:t>
            </a: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 Halfway through, with no answer, the same responder gets one retry: a second alert on their phone.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Arial"/>
                <a:cs typeface="Arial"/>
              </a:rPr>
              <a:t>3.</a:t>
            </a: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 An answer to either alert counts as taken, with no penalty.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Arial"/>
                <a:cs typeface="Arial"/>
              </a:rPr>
              <a:t>4.</a:t>
            </a: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 Still silent at 90 seconds: recorded as missed, and the ping moves on.</a:t>
            </a:r>
          </a:p>
        </p:txBody>
      </p:sp>
      <p:sp>
        <p:nvSpPr>
          <p:cNvPr id="4" name="Shape 4"/>
          <p:cNvSpPr/>
          <p:nvPr/>
        </p:nvSpPr>
        <p:spPr>
          <a:xfrm>
            <a:off x="6223000" y="1270000"/>
            <a:ext cx="5461000" cy="4953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1F3864"/>
                </a:solidFill>
                <a:latin typeface="Arial"/>
                <a:cs typeface="Arial"/>
              </a:rPr>
              <a:t>Why, and what we still need to decide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A missed alert costs 0.12 of score straight away. The retry gives a missed or unseen alert a second chance before that happens.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Arial"/>
                <a:cs typeface="Arial"/>
              </a:rPr>
              <a:t>Retry inside the 90s window (proposed):</a:t>
            </a: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 five misses in a row take 450s.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Arial"/>
                <a:cs typeface="Arial"/>
              </a:rPr>
              <a:t>Second full window:</a:t>
            </a: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 up to 180s per responder; five misses take 900s.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300" dirty="0">
                <a:solidFill>
                  <a:srgbClr val="595959"/>
                </a:solidFill>
                <a:latin typeface="Arial"/>
                <a:cs typeface="Arial"/>
              </a:rPr>
              <a:t>Limits: it only helps if the miss was an unseen alert, and we cannot yet tell a failed push from no answer. Of 135 missed pings, 26 ended with nobody left to ask.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300" dirty="0">
                <a:solidFill>
                  <a:srgbClr val="595959"/>
                </a:solidFill>
                <a:latin typeface="Arial"/>
                <a:cs typeface="Arial"/>
              </a:rPr>
              <a:t>Ravi must agree what counts as a ping and a miss once a retry exists.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304800"/>
            <a:ext cx="11176000" cy="7112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1F3864"/>
                </a:solidFill>
                <a:latin typeface="Arial"/>
                <a:cs typeface="Arial"/>
              </a:rPr>
              <a:t>The workflow</a:t>
            </a:r>
          </a:p>
        </p:txBody>
      </p:sp>
      <p:pic>
        <p:nvPicPr>
          <p:cNvPr id="50" name="Workflow diagram" descr="Workflow for bringing quiet responders 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00" y="1066800"/>
            <a:ext cx="5969000" cy="5306060"/>
          </a:xfrm>
          <a:prstGeom prst="rect">
            <a:avLst/>
          </a:prstGeom>
        </p:spPr>
      </p:pic>
      <p:sp>
        <p:nvSpPr>
          <p:cNvPr id="3" name="Shape 3"/>
          <p:cNvSpPr/>
          <p:nvPr/>
        </p:nvSpPr>
        <p:spPr>
          <a:xfrm>
            <a:off x="508000" y="6477000"/>
            <a:ext cx="11176000" cy="3048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1100" dirty="0">
                <a:solidFill>
                  <a:srgbClr val="595959"/>
                </a:solidFill>
                <a:latin typeface="Arial"/>
                <a:cs typeface="Arial"/>
              </a:rPr>
              <a:t>Purple dashed = new. Grey = today. N and the retry timing are not set yet.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304800"/>
            <a:ext cx="11176000" cy="7112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1F3864"/>
                </a:solidFill>
                <a:latin typeface="Arial"/>
                <a:cs typeface="Arial"/>
              </a:rPr>
              <a:t>What it deliberately does not do</a:t>
            </a:r>
          </a:p>
        </p:txBody>
      </p:sp>
      <p:sp>
        <p:nvSpPr>
          <p:cNvPr id="3" name="Shape 3"/>
          <p:cNvSpPr/>
          <p:nvPr/>
        </p:nvSpPr>
        <p:spPr>
          <a:xfrm>
            <a:off x="508000" y="1270000"/>
            <a:ext cx="11176000" cy="49530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/>
                <a:cs typeface="Arial"/>
              </a:rPr>
              <a:t>Does not revert 4.2 or the proximity weighting. Responders asked for that change.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/>
                <a:cs typeface="Arial"/>
              </a:rPr>
              <a:t>Does not guarantee anyone a number of pings, or put a weak match ahead of a clearly better one on a critical callout.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/>
                <a:cs typeface="Arial"/>
              </a:rPr>
              <a:t>Does not change availability by itself. Handlers stay in control.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/>
                <a:cs typeface="Arial"/>
              </a:rPr>
              <a:t>The retry is a single second alert: no repeated pings, and no retry after a turn-down.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/>
                <a:cs typeface="Arial"/>
              </a:rPr>
              <a:t>Does not tell us why a ping was missed. A failed push, a phone problem and a slow thumb look the same in the data.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600" dirty="0">
                <a:solidFill>
                  <a:srgbClr val="1F2937"/>
                </a:solidFill>
                <a:latin typeface="Arial"/>
                <a:cs typeface="Arial"/>
              </a:rPr>
              <a:t>Does not touch cover identities (Security Policy 4.1), mutual aid, or the handler phone 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08000" y="304800"/>
            <a:ext cx="11176000" cy="711200"/>
          </a:xfrm>
          <a:prstGeom prst="roundRect">
            <a:avLst>
              <a:gd name="adj" fmla="val 6000"/>
            </a:avLst>
          </a:prstGeom>
          <a:noFill/>
          <a:ln>
            <a:noFill/>
          </a:ln>
        </p:spPr>
        <p:txBody>
          <a:bodyPr wrap="square" lIns="137160" tIns="91440" rIns="137160" bIns="91440" anchor="ctr"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1F3864"/>
                </a:solidFill>
                <a:latin typeface="Arial"/>
                <a:cs typeface="Arial"/>
              </a:rPr>
              <a:t>Open before anyone builds, and how we will know</a:t>
            </a:r>
          </a:p>
        </p:txBody>
      </p:sp>
      <p:sp>
        <p:nvSpPr>
          <p:cNvPr id="3" name="Shape 3"/>
          <p:cNvSpPr/>
          <p:nvPr/>
        </p:nvSpPr>
        <p:spPr>
          <a:xfrm>
            <a:off x="508000" y="1270000"/>
            <a:ext cx="6858000" cy="49530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 wrap="square" lIns="137160" tIns="91440" rIns="137160" bIns="91440" anchor="t"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1F3864"/>
                </a:solidFill>
                <a:latin typeface="Arial"/>
                <a:cs typeface="Arial"/>
              </a:rPr>
              <a:t>Open questions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Arial"/>
                <a:cs typeface="Arial"/>
              </a:rPr>
              <a:t>Wen Li:</a:t>
            </a: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 was treating everyone the same on purpose? Why no decay? Should a miss score like a decline?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Arial"/>
                <a:cs typeface="Arial"/>
              </a:rPr>
              <a:t>Ravi Menon:</a:t>
            </a: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 definition of ping and miss once a nudge exists; prior-year numbers.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Arial"/>
                <a:cs typeface="Arial"/>
              </a:rPr>
              <a:t>Marcus Oyelaran:</a:t>
            </a: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 sizing; do scores survive a restart; can a failed push be told from no answer?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400" b="1" dirty="0">
                <a:solidFill>
                  <a:srgbClr val="1F2937"/>
                </a:solidFill>
                <a:latin typeface="Arial"/>
                <a:cs typeface="Arial"/>
              </a:rPr>
              <a:t>Separate and small:</a:t>
            </a: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 restoring the 90s wait is a config change. Alone it will probably not bring the four back.</a:t>
            </a:r>
          </a:p>
        </p:txBody>
      </p:sp>
      <p:sp>
        <p:nvSpPr>
          <p:cNvPr id="4" name="Shape 4"/>
          <p:cNvSpPr/>
          <p:nvPr/>
        </p:nvSpPr>
        <p:spPr>
          <a:xfrm>
            <a:off x="7620000" y="1270000"/>
            <a:ext cx="4064000" cy="49530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txBody>
          <a:bodyPr wrap="square" lIns="137160" tIns="91440" rIns="137160" bIns="91440" anchor="t">
            <a:norm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1600" b="1" dirty="0">
                <a:solidFill>
                  <a:srgbClr val="1F3864"/>
                </a:solidFill>
                <a:latin typeface="Arial"/>
                <a:cs typeface="Arial"/>
              </a:rPr>
              <a:t>Success looks like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The four are offered pings again within a week.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Share of pings missed falls.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Unfilled callouts fall from 11% toward 5%.</a:t>
            </a:r>
          </a:p>
          <a:p>
            <a:pPr marL="285750" indent="-285750">
              <a:spcBef>
                <a:spcPts val="900"/>
              </a:spcBef>
              <a:buFont typeface="Arial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/>
                <a:cs typeface="Arial"/>
              </a:rPr>
              <a:t>Tickets saying "quiet" fall.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ok">
  <a:themeElements>
    <a:clrScheme name="Rook">
      <a:dk1>
        <a:srgbClr val="1F2937"/>
      </a:dk1>
      <a:lt1>
        <a:srgbClr val="FFFFFF"/>
      </a:lt1>
      <a:dk2>
        <a:srgbClr val="1F3864"/>
      </a:dk2>
      <a:lt2>
        <a:srgbClr val="F3F4F6"/>
      </a:lt2>
      <a:accent1>
        <a:srgbClr val="1F3864"/>
      </a:accent1>
      <a:accent2>
        <a:srgbClr val="7C3AED"/>
      </a:accent2>
      <a:accent3>
        <a:srgbClr val="047857"/>
      </a:accent3>
      <a:accent4>
        <a:srgbClr val="B91C1C"/>
      </a:accent4>
      <a:accent5>
        <a:srgbClr val="C2410C"/>
      </a:accent5>
      <a:accent6>
        <a:srgbClr val="6B7280"/>
      </a:accent6>
      <a:hlink>
        <a:srgbClr val="1F3864"/>
      </a:hlink>
      <a:folHlink>
        <a:srgbClr val="7C3AED"/>
      </a:folHlink>
    </a:clrScheme>
    <a:fontScheme name="Roo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Roo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